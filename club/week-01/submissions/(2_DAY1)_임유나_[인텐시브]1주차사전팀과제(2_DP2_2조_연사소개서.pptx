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035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169912" y="3160892"/>
            <a:ext cx="4830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최지현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5600" y="157015"/>
            <a:ext cx="6489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당근 · </a:t>
            </a:r>
            <a:r>
              <a:rPr lang="en-US" sz="1200" dirty="0" err="1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크림을</a:t>
            </a:r>
            <a:r>
              <a:rPr lang="en-US" sz="12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초기 라운드에 발굴한 벤처 투자자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5600" y="449115"/>
            <a:ext cx="577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SBVA 파트너 </a:t>
            </a:r>
            <a:r>
              <a:rPr lang="en-US" sz="2300" b="1" dirty="0" err="1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최지현</a:t>
            </a:r>
            <a:r>
              <a:rPr lang="en-US" sz="23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300" b="1" dirty="0" err="1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상무</a:t>
            </a:r>
            <a:r>
              <a:rPr lang="ko-KR" altLang="en-US" sz="23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님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355600" y="906315"/>
            <a:ext cx="7607300" cy="38100"/>
          </a:xfrm>
          <a:prstGeom prst="line">
            <a:avLst/>
          </a:prstGeom>
          <a:noFill/>
          <a:ln w="15875">
            <a:solidFill>
              <a:srgbClr val="22283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55600" y="1033315"/>
            <a:ext cx="1143000" cy="330200"/>
          </a:xfrm>
          <a:prstGeom prst="roundRect">
            <a:avLst>
              <a:gd name="adj" fmla="val 13889"/>
            </a:avLst>
          </a:prstGeom>
          <a:solidFill>
            <a:srgbClr val="1A1D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55600" y="1033315"/>
            <a:ext cx="114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SBVA 소개</a:t>
            </a:r>
          </a:p>
        </p:txBody>
      </p:sp>
      <p:sp>
        <p:nvSpPr>
          <p:cNvPr id="17" name="Shape 15"/>
          <p:cNvSpPr/>
          <p:nvPr/>
        </p:nvSpPr>
        <p:spPr>
          <a:xfrm>
            <a:off x="317500" y="4493024"/>
            <a:ext cx="2082800" cy="2057400"/>
          </a:xfrm>
          <a:prstGeom prst="roundRect">
            <a:avLst>
              <a:gd name="adj" fmla="val 2907"/>
            </a:avLst>
          </a:prstGeom>
          <a:solidFill>
            <a:srgbClr val="1A1D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69900" y="4594624"/>
            <a:ext cx="177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딜소싱 ① 당근</a:t>
            </a:r>
          </a:p>
        </p:txBody>
      </p:sp>
      <p:sp>
        <p:nvSpPr>
          <p:cNvPr id="20" name="Text 17"/>
          <p:cNvSpPr/>
          <p:nvPr/>
        </p:nvSpPr>
        <p:spPr>
          <a:xfrm>
            <a:off x="469900" y="4950224"/>
            <a:ext cx="18923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2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</a:t>
            </a:r>
            <a:r>
              <a:rPr lang="en-US" altLang="ko-KR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ko-KR" altLang="en-US" sz="1100" dirty="0" err="1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시리즈B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45억원 첫 투자</a:t>
            </a:r>
            <a:r>
              <a:rPr lang="en-US" altLang="ko-KR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두 차례의 후속 투자</a:t>
            </a:r>
            <a:r>
              <a:rPr lang="en-US" altLang="ko-KR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후 펀드 만기로 </a:t>
            </a:r>
            <a:r>
              <a:rPr lang="ko-KR" altLang="en-US" sz="1100" dirty="0" err="1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엑싯</a:t>
            </a:r>
            <a:endParaRPr lang="ko-KR" altLang="en-US" sz="1100" dirty="0">
              <a:solidFill>
                <a:srgbClr val="C4C9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22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r>
              <a:rPr lang="en-US" altLang="ko-KR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구주 매입을 통한 재투자 </a:t>
            </a:r>
          </a:p>
        </p:txBody>
      </p:sp>
      <p:sp>
        <p:nvSpPr>
          <p:cNvPr id="21" name="Shape 18"/>
          <p:cNvSpPr/>
          <p:nvPr/>
        </p:nvSpPr>
        <p:spPr>
          <a:xfrm>
            <a:off x="2514600" y="4493024"/>
            <a:ext cx="2082800" cy="2057400"/>
          </a:xfrm>
          <a:prstGeom prst="roundRect">
            <a:avLst>
              <a:gd name="adj" fmla="val 2907"/>
            </a:avLst>
          </a:prstGeom>
          <a:solidFill>
            <a:srgbClr val="1A1D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2667000" y="4594624"/>
            <a:ext cx="177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딜소싱 ② KREAM</a:t>
            </a:r>
          </a:p>
        </p:txBody>
      </p:sp>
      <p:sp>
        <p:nvSpPr>
          <p:cNvPr id="24" name="Text 20"/>
          <p:cNvSpPr/>
          <p:nvPr/>
        </p:nvSpPr>
        <p:spPr>
          <a:xfrm>
            <a:off x="2667000" y="4950224"/>
            <a:ext cx="17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2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21년 </a:t>
            </a:r>
            <a:r>
              <a:rPr lang="ko-KR" altLang="en-US" sz="1100" dirty="0" err="1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시리즈A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초기 투자</a:t>
            </a:r>
          </a:p>
          <a:p>
            <a:pPr marL="171450" indent="-171450">
              <a:lnSpc>
                <a:spcPct val="122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시리즈B·C 연속 후속 투자 (</a:t>
            </a:r>
            <a:r>
              <a:rPr lang="en-US" altLang="ko-KR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21~</a:t>
            </a:r>
            <a:r>
              <a:rPr lang="en-US" altLang="ko-KR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22)</a:t>
            </a:r>
          </a:p>
          <a:p>
            <a:pPr marL="171450" indent="-171450">
              <a:lnSpc>
                <a:spcPct val="122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시장 확장 중 포트폴리오사 인수</a:t>
            </a:r>
          </a:p>
        </p:txBody>
      </p:sp>
      <p:pic>
        <p:nvPicPr>
          <p:cNvPr id="31" name="Picture 31">
            <a:extLst>
              <a:ext uri="{FF2B5EF4-FFF2-40B4-BE49-F238E27FC236}">
                <a16:creationId xmlns:a16="http://schemas.microsoft.com/office/drawing/2014/main" id="{3DB427E6-25F0-8D1F-C789-D6CD5F10B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080" y="1225379"/>
            <a:ext cx="5521295" cy="5632621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C2A7FAE7-A907-9B66-5629-53BBAA51F573}"/>
              </a:ext>
            </a:extLst>
          </p:cNvPr>
          <p:cNvGrpSpPr/>
          <p:nvPr/>
        </p:nvGrpSpPr>
        <p:grpSpPr>
          <a:xfrm>
            <a:off x="191313" y="2232650"/>
            <a:ext cx="6451600" cy="2057400"/>
            <a:chOff x="482600" y="2679700"/>
            <a:chExt cx="6451600" cy="2057400"/>
          </a:xfrm>
        </p:grpSpPr>
        <p:sp>
          <p:nvSpPr>
            <p:cNvPr id="300" name="TL Spine"/>
            <p:cNvSpPr/>
            <p:nvPr/>
          </p:nvSpPr>
          <p:spPr>
            <a:xfrm>
              <a:off x="1892300" y="2819400"/>
              <a:ext cx="25400" cy="1778000"/>
            </a:xfrm>
            <a:prstGeom prst="rect">
              <a:avLst/>
            </a:prstGeom>
            <a:solidFill>
              <a:srgbClr val="D5D8D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TL Dot 0"/>
            <p:cNvSpPr/>
            <p:nvPr/>
          </p:nvSpPr>
          <p:spPr>
            <a:xfrm>
              <a:off x="1854200" y="2768600"/>
              <a:ext cx="101600" cy="101600"/>
            </a:xfrm>
            <a:prstGeom prst="ellipse">
              <a:avLst/>
            </a:prstGeom>
            <a:solidFill>
              <a:srgbClr val="1A1D2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TL Year 0"/>
            <p:cNvSpPr txBox="1"/>
            <p:nvPr/>
          </p:nvSpPr>
          <p:spPr>
            <a:xfrm>
              <a:off x="482600" y="2679700"/>
              <a:ext cx="1270000" cy="279400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r">
                <a:buNone/>
              </a:pPr>
              <a:r>
                <a:rPr lang="en-US" altLang="ko-KR" sz="1200" b="1" dirty="0">
                  <a:solidFill>
                    <a:srgbClr val="1A1D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2005 – 2012</a:t>
              </a:r>
            </a:p>
          </p:txBody>
        </p:sp>
        <p:sp>
          <p:nvSpPr>
            <p:cNvPr id="303" name="TL Text 0"/>
            <p:cNvSpPr txBox="1"/>
            <p:nvPr/>
          </p:nvSpPr>
          <p:spPr>
            <a:xfrm>
              <a:off x="2108200" y="2679700"/>
              <a:ext cx="4826000" cy="279400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l">
                <a:buNone/>
              </a:pPr>
              <a:r>
                <a:rPr lang="ko-KR" altLang="en-US" sz="1250" b="1" dirty="0">
                  <a:solidFill>
                    <a:srgbClr val="1A1D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고려대학교</a:t>
              </a:r>
              <a:r>
                <a:rPr lang="ko-KR" altLang="en-US" sz="1250" dirty="0">
                  <a:solidFill>
                    <a:srgbClr val="3A3F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경영학 학사</a:t>
              </a:r>
            </a:p>
          </p:txBody>
        </p:sp>
        <p:sp>
          <p:nvSpPr>
            <p:cNvPr id="304" name="TL Dot 1"/>
            <p:cNvSpPr/>
            <p:nvPr/>
          </p:nvSpPr>
          <p:spPr>
            <a:xfrm>
              <a:off x="1854200" y="3124200"/>
              <a:ext cx="101600" cy="101600"/>
            </a:xfrm>
            <a:prstGeom prst="ellipse">
              <a:avLst/>
            </a:prstGeom>
            <a:solidFill>
              <a:srgbClr val="1A1D2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TL Year 1"/>
            <p:cNvSpPr txBox="1"/>
            <p:nvPr/>
          </p:nvSpPr>
          <p:spPr>
            <a:xfrm>
              <a:off x="482600" y="3035300"/>
              <a:ext cx="1270000" cy="279400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r">
                <a:buNone/>
              </a:pPr>
              <a:r>
                <a:rPr lang="en-US" altLang="ko-KR" sz="1200" b="1" dirty="0">
                  <a:solidFill>
                    <a:srgbClr val="1A1D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2009</a:t>
              </a:r>
            </a:p>
          </p:txBody>
        </p:sp>
        <p:sp>
          <p:nvSpPr>
            <p:cNvPr id="306" name="TL Text 1"/>
            <p:cNvSpPr txBox="1"/>
            <p:nvPr/>
          </p:nvSpPr>
          <p:spPr>
            <a:xfrm>
              <a:off x="2108200" y="3035300"/>
              <a:ext cx="4826000" cy="279400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l">
                <a:buNone/>
              </a:pPr>
              <a:r>
                <a:rPr lang="ko-KR" altLang="en-US" sz="1250" b="1" dirty="0">
                  <a:solidFill>
                    <a:srgbClr val="1A1D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미국 공인회계사(USCPA)</a:t>
              </a:r>
              <a:r>
                <a:rPr lang="ko-KR" altLang="en-US" sz="1250" dirty="0">
                  <a:solidFill>
                    <a:srgbClr val="3A3F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자격 취득</a:t>
              </a:r>
            </a:p>
          </p:txBody>
        </p:sp>
        <p:sp>
          <p:nvSpPr>
            <p:cNvPr id="307" name="TL Dot 2"/>
            <p:cNvSpPr/>
            <p:nvPr/>
          </p:nvSpPr>
          <p:spPr>
            <a:xfrm>
              <a:off x="1854200" y="3479800"/>
              <a:ext cx="101600" cy="101600"/>
            </a:xfrm>
            <a:prstGeom prst="ellipse">
              <a:avLst/>
            </a:prstGeom>
            <a:solidFill>
              <a:srgbClr val="1A1D2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TL Year 2"/>
            <p:cNvSpPr txBox="1"/>
            <p:nvPr/>
          </p:nvSpPr>
          <p:spPr>
            <a:xfrm>
              <a:off x="482600" y="3390900"/>
              <a:ext cx="1270000" cy="279400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r">
                <a:buNone/>
              </a:pPr>
              <a:r>
                <a:rPr lang="en-US" altLang="ko-KR" sz="1200" b="1" dirty="0">
                  <a:solidFill>
                    <a:srgbClr val="1A1D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2011</a:t>
              </a:r>
            </a:p>
          </p:txBody>
        </p:sp>
        <p:sp>
          <p:nvSpPr>
            <p:cNvPr id="309" name="TL Text 2"/>
            <p:cNvSpPr txBox="1"/>
            <p:nvPr/>
          </p:nvSpPr>
          <p:spPr>
            <a:xfrm>
              <a:off x="2108200" y="3390900"/>
              <a:ext cx="4826000" cy="279400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l">
                <a:buNone/>
              </a:pPr>
              <a:r>
                <a:rPr lang="ko-KR" altLang="en-US" sz="1250" b="1" dirty="0">
                  <a:solidFill>
                    <a:srgbClr val="1A1D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미국 중소기업청(SBA)</a:t>
              </a:r>
              <a:r>
                <a:rPr lang="ko-KR" altLang="en-US" sz="1250" dirty="0">
                  <a:solidFill>
                    <a:srgbClr val="3A3F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인턴 · 워싱턴 D.C.</a:t>
              </a:r>
            </a:p>
          </p:txBody>
        </p:sp>
        <p:sp>
          <p:nvSpPr>
            <p:cNvPr id="310" name="TL Dot 3"/>
            <p:cNvSpPr/>
            <p:nvPr/>
          </p:nvSpPr>
          <p:spPr>
            <a:xfrm>
              <a:off x="1854200" y="3835400"/>
              <a:ext cx="101600" cy="101600"/>
            </a:xfrm>
            <a:prstGeom prst="ellipse">
              <a:avLst/>
            </a:prstGeom>
            <a:solidFill>
              <a:srgbClr val="1A1D2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TL Year 3"/>
            <p:cNvSpPr txBox="1"/>
            <p:nvPr/>
          </p:nvSpPr>
          <p:spPr>
            <a:xfrm>
              <a:off x="482600" y="3746500"/>
              <a:ext cx="1270000" cy="279400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r">
                <a:buNone/>
              </a:pPr>
              <a:r>
                <a:rPr lang="en-US" altLang="ko-KR" sz="1200" b="1" dirty="0">
                  <a:solidFill>
                    <a:srgbClr val="1A1D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2012 – 2014</a:t>
              </a:r>
            </a:p>
          </p:txBody>
        </p:sp>
        <p:sp>
          <p:nvSpPr>
            <p:cNvPr id="312" name="TL Text 3"/>
            <p:cNvSpPr txBox="1"/>
            <p:nvPr/>
          </p:nvSpPr>
          <p:spPr>
            <a:xfrm>
              <a:off x="2108200" y="3746500"/>
              <a:ext cx="4826000" cy="279400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l">
                <a:buNone/>
              </a:pPr>
              <a:r>
                <a:rPr lang="ko-KR" altLang="en-US" sz="1250" b="1" dirty="0">
                  <a:solidFill>
                    <a:srgbClr val="1A1D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삼성전자</a:t>
              </a:r>
              <a:r>
                <a:rPr lang="ko-KR" altLang="en-US" sz="1250" dirty="0">
                  <a:solidFill>
                    <a:srgbClr val="3A3F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250" dirty="0" err="1">
                  <a:solidFill>
                    <a:srgbClr val="3A3F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재무팀</a:t>
              </a:r>
              <a:endParaRPr lang="ko-KR" altLang="en-US" sz="1250" dirty="0">
                <a:solidFill>
                  <a:srgbClr val="3A3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313" name="TL Dot 4"/>
            <p:cNvSpPr/>
            <p:nvPr/>
          </p:nvSpPr>
          <p:spPr>
            <a:xfrm>
              <a:off x="1854200" y="4191000"/>
              <a:ext cx="101600" cy="101600"/>
            </a:xfrm>
            <a:prstGeom prst="ellipse">
              <a:avLst/>
            </a:prstGeom>
            <a:solidFill>
              <a:srgbClr val="1A1D2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TL Year 4"/>
            <p:cNvSpPr txBox="1"/>
            <p:nvPr/>
          </p:nvSpPr>
          <p:spPr>
            <a:xfrm>
              <a:off x="482600" y="4102100"/>
              <a:ext cx="1270000" cy="279400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r">
                <a:buNone/>
              </a:pPr>
              <a:r>
                <a:rPr lang="en-US" altLang="ko-KR" sz="1200" b="1" dirty="0">
                  <a:solidFill>
                    <a:srgbClr val="1A1D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2014 – 2017</a:t>
              </a:r>
            </a:p>
          </p:txBody>
        </p:sp>
        <p:sp>
          <p:nvSpPr>
            <p:cNvPr id="315" name="TL Text 4"/>
            <p:cNvSpPr txBox="1"/>
            <p:nvPr/>
          </p:nvSpPr>
          <p:spPr>
            <a:xfrm>
              <a:off x="2108200" y="4102100"/>
              <a:ext cx="4826000" cy="279400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l">
                <a:buNone/>
              </a:pPr>
              <a:r>
                <a:rPr lang="ko-KR" altLang="en-US" sz="1250" b="1" dirty="0">
                  <a:solidFill>
                    <a:srgbClr val="1A1D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고려사이버대학교</a:t>
              </a:r>
              <a:r>
                <a:rPr lang="ko-KR" altLang="en-US" sz="1250" dirty="0">
                  <a:solidFill>
                    <a:srgbClr val="3A3F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컴퓨터공학 학사</a:t>
              </a:r>
            </a:p>
          </p:txBody>
        </p:sp>
        <p:sp>
          <p:nvSpPr>
            <p:cNvPr id="316" name="TL Dot 5"/>
            <p:cNvSpPr/>
            <p:nvPr/>
          </p:nvSpPr>
          <p:spPr>
            <a:xfrm>
              <a:off x="1854200" y="4546600"/>
              <a:ext cx="101600" cy="101600"/>
            </a:xfrm>
            <a:prstGeom prst="ellipse">
              <a:avLst/>
            </a:prstGeom>
            <a:solidFill>
              <a:srgbClr val="1A1D2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TL Year 5"/>
            <p:cNvSpPr txBox="1"/>
            <p:nvPr/>
          </p:nvSpPr>
          <p:spPr>
            <a:xfrm>
              <a:off x="482600" y="4457700"/>
              <a:ext cx="1270000" cy="279400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r">
                <a:buNone/>
              </a:pPr>
              <a:r>
                <a:rPr lang="en-US" altLang="ko-KR" sz="1200" b="1" dirty="0">
                  <a:solidFill>
                    <a:srgbClr val="1A1D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2015 – 현재</a:t>
              </a:r>
            </a:p>
          </p:txBody>
        </p:sp>
        <p:sp>
          <p:nvSpPr>
            <p:cNvPr id="318" name="TL Text 5"/>
            <p:cNvSpPr txBox="1"/>
            <p:nvPr/>
          </p:nvSpPr>
          <p:spPr>
            <a:xfrm>
              <a:off x="2108200" y="4457700"/>
              <a:ext cx="4826000" cy="279400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l">
                <a:buNone/>
              </a:pPr>
              <a:r>
                <a:rPr lang="ko-KR" altLang="en-US" sz="1250" b="1" dirty="0">
                  <a:solidFill>
                    <a:srgbClr val="1A1D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SBVA</a:t>
              </a:r>
              <a:r>
                <a:rPr lang="ko-KR" altLang="en-US" sz="1250" dirty="0">
                  <a:solidFill>
                    <a:srgbClr val="3A3F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파트너 · 한국 ICT·AI 투자</a:t>
              </a:r>
            </a:p>
          </p:txBody>
        </p:sp>
      </p:grpSp>
      <p:sp>
        <p:nvSpPr>
          <p:cNvPr id="101" name="Shape 101"/>
          <p:cNvSpPr/>
          <p:nvPr/>
        </p:nvSpPr>
        <p:spPr>
          <a:xfrm>
            <a:off x="4711700" y="4493024"/>
            <a:ext cx="2082800" cy="2057400"/>
          </a:xfrm>
          <a:prstGeom prst="roundRect">
            <a:avLst>
              <a:gd name="adj" fmla="val 2907"/>
            </a:avLst>
          </a:prstGeom>
          <a:solidFill>
            <a:srgbClr val="1A1D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2"/>
          <p:cNvSpPr/>
          <p:nvPr/>
        </p:nvSpPr>
        <p:spPr>
          <a:xfrm>
            <a:off x="4864100" y="4594624"/>
            <a:ext cx="177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SBVA </a:t>
            </a:r>
            <a:r>
              <a:rPr lang="ko-KR" alt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운용 현황</a:t>
            </a:r>
          </a:p>
        </p:txBody>
      </p:sp>
      <p:sp>
        <p:nvSpPr>
          <p:cNvPr id="103" name="Text 103"/>
          <p:cNvSpPr/>
          <p:nvPr/>
        </p:nvSpPr>
        <p:spPr>
          <a:xfrm>
            <a:off x="4864100" y="4950224"/>
            <a:ext cx="17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2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25년 17개사 1,267억원 투자 집행</a:t>
            </a:r>
          </a:p>
          <a:p>
            <a:pPr marL="171450" indent="-171450">
              <a:lnSpc>
                <a:spcPct val="122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26년 전반기 기준 AUM 3조 700억 (국내 </a:t>
            </a:r>
            <a:r>
              <a:rPr lang="en-US" altLang="ko-KR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r>
              <a:rPr lang="ko-KR" altLang="en-US" sz="1100" dirty="0">
                <a:solidFill>
                  <a:srgbClr val="C4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4위)</a:t>
            </a:r>
          </a:p>
        </p:txBody>
      </p:sp>
      <p:sp>
        <p:nvSpPr>
          <p:cNvPr id="18" name="SBVA Intro Line">
            <a:extLst>
              <a:ext uri="{FF2B5EF4-FFF2-40B4-BE49-F238E27FC236}">
                <a16:creationId xmlns:a16="http://schemas.microsoft.com/office/drawing/2014/main" id="{A9977138-38ED-460A-98CA-B0A0BEB75A30}"/>
              </a:ext>
            </a:extLst>
          </p:cNvPr>
          <p:cNvSpPr txBox="1"/>
          <p:nvPr/>
        </p:nvSpPr>
        <p:spPr>
          <a:xfrm>
            <a:off x="355600" y="1426313"/>
            <a:ext cx="66294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</a:pPr>
            <a:r>
              <a:rPr lang="ko-KR" altLang="en-US" sz="1350" dirty="0">
                <a:solidFill>
                  <a:srgbClr val="23272F"/>
                </a:solidFill>
                <a:ea typeface="Calibri"/>
              </a:rPr>
              <a:t>소프트뱅크 그룹에서 독립한 </a:t>
            </a:r>
            <a:r>
              <a:rPr lang="en-US" altLang="ko-KR" sz="1350" dirty="0">
                <a:solidFill>
                  <a:srgbClr val="23272F"/>
                </a:solidFill>
                <a:ea typeface="Calibri"/>
              </a:rPr>
              <a:t>ICT </a:t>
            </a:r>
            <a:r>
              <a:rPr lang="ko-KR" altLang="en-US" sz="1350" dirty="0">
                <a:solidFill>
                  <a:srgbClr val="23272F"/>
                </a:solidFill>
                <a:ea typeface="Calibri"/>
              </a:rPr>
              <a:t>특화 </a:t>
            </a:r>
            <a:r>
              <a:rPr lang="en-US" altLang="ko-KR" sz="1350" dirty="0">
                <a:solidFill>
                  <a:srgbClr val="23272F"/>
                </a:solidFill>
                <a:ea typeface="Calibri"/>
              </a:rPr>
              <a:t>VC</a:t>
            </a:r>
          </a:p>
          <a:p>
            <a:pPr>
              <a:lnSpc>
                <a:spcPts val="1600"/>
              </a:lnSpc>
              <a:spcAft>
                <a:spcPts val="300"/>
              </a:spcAft>
            </a:pPr>
            <a:r>
              <a:rPr lang="ko-KR" altLang="en-US" sz="1350" dirty="0">
                <a:solidFill>
                  <a:srgbClr val="23272F"/>
                </a:solidFill>
                <a:ea typeface="Calibri"/>
              </a:rPr>
              <a:t>국내 </a:t>
            </a:r>
            <a:r>
              <a:rPr lang="en-US" altLang="ko-KR" sz="1350" dirty="0">
                <a:solidFill>
                  <a:srgbClr val="23272F"/>
                </a:solidFill>
                <a:ea typeface="Calibri"/>
              </a:rPr>
              <a:t>AI </a:t>
            </a:r>
            <a:r>
              <a:rPr lang="ko-KR" altLang="en-US" sz="1350" dirty="0">
                <a:solidFill>
                  <a:srgbClr val="23272F"/>
                </a:solidFill>
                <a:ea typeface="Calibri"/>
              </a:rPr>
              <a:t>생태계의 성장 및 글로벌 확장 지원</a:t>
            </a:r>
            <a:endParaRPr lang="en-US" sz="1250" dirty="0">
              <a:solidFill>
                <a:srgbClr val="6B7280"/>
              </a:solidFill>
              <a:latin typeface="Calibri"/>
              <a:ea typeface="Calibri"/>
            </a:endParaRPr>
          </a:p>
        </p:txBody>
      </p:sp>
      <p:sp>
        <p:nvSpPr>
          <p:cNvPr id="8" name="Section Divider">
            <a:extLst>
              <a:ext uri="{FF2B5EF4-FFF2-40B4-BE49-F238E27FC236}">
                <a16:creationId xmlns:a16="http://schemas.microsoft.com/office/drawing/2014/main" id="{D2AFE6E4-D6C6-4053-B501-ACC69F6885B4}"/>
              </a:ext>
            </a:extLst>
          </p:cNvPr>
          <p:cNvSpPr/>
          <p:nvPr/>
        </p:nvSpPr>
        <p:spPr>
          <a:xfrm>
            <a:off x="412750" y="2049720"/>
            <a:ext cx="5490210" cy="45719"/>
          </a:xfrm>
          <a:prstGeom prst="rect">
            <a:avLst/>
          </a:prstGeom>
          <a:solidFill>
            <a:srgbClr val="D0D4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438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B769BD4-C714-4917-A557-0BB494851FB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bc30ba6-205d-4381-ba24-8c8d97fad6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167</Words>
  <Application>Microsoft Macintosh PowerPoint</Application>
  <PresentationFormat>와이드스크린</PresentationFormat>
  <Paragraphs>29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유나 임</cp:lastModifiedBy>
  <cp:revision>13</cp:revision>
  <dcterms:created xsi:type="dcterms:W3CDTF">2026-07-12T16:29:17Z</dcterms:created>
  <dcterms:modified xsi:type="dcterms:W3CDTF">2026-07-14T01:27:51Z</dcterms:modified>
</cp:coreProperties>
</file>