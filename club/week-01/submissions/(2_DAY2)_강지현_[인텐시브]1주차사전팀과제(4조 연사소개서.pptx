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4387175" cy="13716000"/>
  <p:notesSz cx="13716000" cy="24387175"/>
  <p:embeddedFontLst>
    <p:embeddedFont>
      <p:font typeface="Freesentation 3 Light" charset="-127"/>
      <p:regular r:id="rId4"/>
    </p:embeddedFont>
    <p:embeddedFont>
      <p:font typeface="SeoulAlrim Bold" panose="020B0600000101010101" charset="-127"/>
      <p:bold r:id="rId5"/>
    </p:embeddedFont>
    <p:embeddedFont>
      <p:font typeface="SeoulAlrim ExtraBold" panose="020B0600000101010101" charset="-127"/>
      <p:bold r:id="rId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55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361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514" y="4203700"/>
            <a:ext cx="17655207" cy="9512300"/>
          </a:xfrm>
          <a:prstGeom prst="rect">
            <a:avLst/>
          </a:prstGeom>
        </p:spPr>
      </p:pic>
      <p:pic>
        <p:nvPicPr>
          <p:cNvPr id="3" name="Image 1" descr=" 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0587" y="2095500"/>
            <a:ext cx="15432429" cy="11620500"/>
          </a:xfrm>
          <a:prstGeom prst="rect">
            <a:avLst/>
          </a:prstGeom>
        </p:spPr>
      </p:pic>
      <p:pic>
        <p:nvPicPr>
          <p:cNvPr id="4" name="Image 2" descr=" 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514" y="1206500"/>
            <a:ext cx="9894537" cy="26162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473384" y="1739900"/>
            <a:ext cx="3238905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>
                    <a:alpha val="100000"/>
                  </a:srgbClr>
                </a:solidFill>
                <a:latin typeface="SeoulAlrim ExtraBold" pitchFamily="34" charset="0"/>
                <a:ea typeface="SeoulAlrim ExtraBold" pitchFamily="34" charset="-122"/>
                <a:cs typeface="SeoulAlrim ExtraBold" pitchFamily="34" charset="-120"/>
              </a:rPr>
              <a:t>임주혁 상무</a:t>
            </a:r>
            <a:endParaRPr lang="en-US" sz="4800" dirty="0"/>
          </a:p>
        </p:txBody>
      </p:sp>
      <p:sp>
        <p:nvSpPr>
          <p:cNvPr id="6" name="Text 1"/>
          <p:cNvSpPr/>
          <p:nvPr/>
        </p:nvSpPr>
        <p:spPr>
          <a:xfrm>
            <a:off x="1473384" y="2641600"/>
            <a:ext cx="7172163" cy="833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dirty="0">
                <a:solidFill>
                  <a:srgbClr val="FFFFFF">
                    <a:alpha val="100000"/>
                  </a:srgbClr>
                </a:solidFill>
                <a:latin typeface="SeoulAlrim Bold" pitchFamily="34" charset="0"/>
                <a:ea typeface="SeoulAlrim Bold" pitchFamily="34" charset="-122"/>
                <a:cs typeface="SeoulAlrim Bold" pitchFamily="34" charset="-120"/>
              </a:rPr>
              <a:t>한화투자증권 자산관리본부장 </a:t>
            </a:r>
            <a:endParaRPr lang="en-US" sz="4400" dirty="0"/>
          </a:p>
        </p:txBody>
      </p:sp>
      <p:pic>
        <p:nvPicPr>
          <p:cNvPr id="7" name="Image 3" descr=" 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66496" y="406400"/>
            <a:ext cx="2222778" cy="78740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1473384" y="11595100"/>
            <a:ext cx="10783648" cy="1447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3"/>
          <p:cNvSpPr/>
          <p:nvPr/>
        </p:nvSpPr>
        <p:spPr>
          <a:xfrm>
            <a:off x="1473384" y="11595100"/>
            <a:ext cx="8014702" cy="50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1473384" y="11595100"/>
            <a:ext cx="1168546" cy="508000"/>
          </a:xfrm>
          <a:prstGeom prst="rect">
            <a:avLst/>
          </a:prstGeom>
          <a:solidFill>
            <a:srgbClr val="FF3700">
              <a:alpha val="10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1625803" y="11671300"/>
            <a:ext cx="9653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SeoulAlrim ExtraBold" pitchFamily="34" charset="0"/>
                <a:ea typeface="SeoulAlrim ExtraBold" pitchFamily="34" charset="-122"/>
                <a:cs typeface="SeoulAlrim ExtraBold" pitchFamily="34" charset="-120"/>
              </a:rPr>
              <a:t>~2010</a:t>
            </a:r>
            <a:endParaRPr lang="en-US" sz="2400" dirty="0"/>
          </a:p>
        </p:txBody>
      </p:sp>
      <p:sp>
        <p:nvSpPr>
          <p:cNvPr id="12" name="Text 6"/>
          <p:cNvSpPr/>
          <p:nvPr/>
        </p:nvSpPr>
        <p:spPr>
          <a:xfrm>
            <a:off x="2794349" y="11614150"/>
            <a:ext cx="6829220" cy="60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kern="0" spc="-128" dirty="0">
                <a:solidFill>
                  <a:srgbClr val="000000">
                    <a:alpha val="100000"/>
                  </a:srgbClr>
                </a:solidFill>
                <a:latin typeface="SeoulAlrim Bold" pitchFamily="34" charset="0"/>
                <a:ea typeface="SeoulAlrim Bold" pitchFamily="34" charset="-122"/>
                <a:cs typeface="SeoulAlrim Bold" pitchFamily="34" charset="-120"/>
              </a:rPr>
              <a:t>현장 리테일 금융 전문가로서의 입지 구축</a:t>
            </a:r>
            <a:endParaRPr lang="en-US" sz="3200" dirty="0"/>
          </a:p>
        </p:txBody>
      </p:sp>
      <p:sp>
        <p:nvSpPr>
          <p:cNvPr id="13" name="Text 7"/>
          <p:cNvSpPr/>
          <p:nvPr/>
        </p:nvSpPr>
        <p:spPr>
          <a:xfrm>
            <a:off x="1473384" y="12255500"/>
            <a:ext cx="10893728" cy="897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lnSpc>
                <a:spcPts val="3120"/>
              </a:lnSpc>
              <a:buSzPct val="100000"/>
              <a:buChar char="•"/>
            </a:pPr>
            <a:r>
              <a:rPr lang="en-US" sz="2600" dirty="0">
                <a:solidFill>
                  <a:srgbClr val="2A2A2A">
                    <a:alpha val="100000"/>
                  </a:srgbClr>
                </a:solidFill>
                <a:latin typeface="Freesentation 3 Light" pitchFamily="34" charset="0"/>
                <a:ea typeface="Freesentation 3 Light" pitchFamily="34" charset="-122"/>
                <a:cs typeface="Freesentation 3 Light" pitchFamily="34" charset="-120"/>
              </a:rPr>
              <a:t>한화투자증권 이촌지점장 및 금융플라자 63지점장 역임</a:t>
            </a:r>
            <a:endParaRPr lang="en-US" sz="2600" dirty="0"/>
          </a:p>
          <a:p>
            <a:pPr marL="685800" lvl="1" indent="-342900" algn="l">
              <a:lnSpc>
                <a:spcPts val="3120"/>
              </a:lnSpc>
              <a:buSzPct val="100000"/>
              <a:buChar char="•"/>
            </a:pPr>
            <a:r>
              <a:rPr lang="en-US" sz="2600" dirty="0">
                <a:solidFill>
                  <a:srgbClr val="2A2A2A">
                    <a:alpha val="100000"/>
                  </a:srgbClr>
                </a:solidFill>
                <a:latin typeface="Freesentation 3 Light" pitchFamily="34" charset="0"/>
                <a:ea typeface="Freesentation 3 Light" pitchFamily="34" charset="-122"/>
                <a:cs typeface="Freesentation 3 Light" pitchFamily="34" charset="-120"/>
              </a:rPr>
              <a:t>금융 최전선에서 VIP 고객 자산관리를 전담한 업계 ‘1세대 마스터 PB’</a:t>
            </a:r>
            <a:endParaRPr lang="en-US" sz="2600" dirty="0"/>
          </a:p>
        </p:txBody>
      </p:sp>
      <p:sp>
        <p:nvSpPr>
          <p:cNvPr id="14" name="Shape 8"/>
          <p:cNvSpPr/>
          <p:nvPr/>
        </p:nvSpPr>
        <p:spPr>
          <a:xfrm>
            <a:off x="1473384" y="9791700"/>
            <a:ext cx="10783648" cy="1447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1473384" y="9791700"/>
            <a:ext cx="6668333" cy="50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1473384" y="9791700"/>
            <a:ext cx="2019552" cy="508000"/>
          </a:xfrm>
          <a:prstGeom prst="rect">
            <a:avLst/>
          </a:prstGeom>
          <a:solidFill>
            <a:srgbClr val="FF3700">
              <a:alpha val="10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1"/>
          <p:cNvSpPr/>
          <p:nvPr/>
        </p:nvSpPr>
        <p:spPr>
          <a:xfrm>
            <a:off x="1625803" y="9867900"/>
            <a:ext cx="18163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SeoulAlrim ExtraBold" pitchFamily="34" charset="0"/>
                <a:ea typeface="SeoulAlrim ExtraBold" pitchFamily="34" charset="-122"/>
                <a:cs typeface="SeoulAlrim ExtraBold" pitchFamily="34" charset="-120"/>
              </a:rPr>
              <a:t>2010 ~ 2019</a:t>
            </a:r>
            <a:endParaRPr lang="en-US" sz="2400" dirty="0"/>
          </a:p>
        </p:txBody>
      </p:sp>
      <p:sp>
        <p:nvSpPr>
          <p:cNvPr id="18" name="Text 12"/>
          <p:cNvSpPr/>
          <p:nvPr/>
        </p:nvSpPr>
        <p:spPr>
          <a:xfrm>
            <a:off x="3645356" y="9810750"/>
            <a:ext cx="4631846" cy="60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kern="0" spc="-128" dirty="0">
                <a:solidFill>
                  <a:srgbClr val="000000">
                    <a:alpha val="100000"/>
                  </a:srgbClr>
                </a:solidFill>
                <a:latin typeface="SeoulAlrim Bold" pitchFamily="34" charset="0"/>
                <a:ea typeface="SeoulAlrim Bold" pitchFamily="34" charset="-122"/>
                <a:cs typeface="SeoulAlrim Bold" pitchFamily="34" charset="-120"/>
              </a:rPr>
              <a:t>핵심 거점 센터 총괄 및 관리</a:t>
            </a:r>
            <a:endParaRPr lang="en-US" sz="3200" dirty="0"/>
          </a:p>
        </p:txBody>
      </p:sp>
      <p:sp>
        <p:nvSpPr>
          <p:cNvPr id="19" name="Text 13"/>
          <p:cNvSpPr/>
          <p:nvPr/>
        </p:nvSpPr>
        <p:spPr>
          <a:xfrm>
            <a:off x="1473384" y="10452100"/>
            <a:ext cx="10893728" cy="897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lnSpc>
                <a:spcPts val="3120"/>
              </a:lnSpc>
              <a:buSzPct val="100000"/>
              <a:buChar char="•"/>
            </a:pPr>
            <a:r>
              <a:rPr lang="en-US" sz="2600" dirty="0">
                <a:solidFill>
                  <a:srgbClr val="2A2A2A">
                    <a:alpha val="100000"/>
                  </a:srgbClr>
                </a:solidFill>
                <a:latin typeface="Freesentation 3 Light" pitchFamily="34" charset="0"/>
                <a:ea typeface="Freesentation 3 Light" pitchFamily="34" charset="-122"/>
                <a:cs typeface="Freesentation 3 Light" pitchFamily="34" charset="-120"/>
              </a:rPr>
              <a:t>한화투자증권 HFC 강남1센터장 역임</a:t>
            </a:r>
            <a:endParaRPr lang="en-US" sz="2600" dirty="0"/>
          </a:p>
          <a:p>
            <a:pPr marL="685800" lvl="1" indent="-342900" algn="l">
              <a:lnSpc>
                <a:spcPts val="3120"/>
              </a:lnSpc>
              <a:buSzPct val="100000"/>
              <a:buChar char="•"/>
            </a:pPr>
            <a:r>
              <a:rPr lang="en-US" sz="2600" dirty="0">
                <a:solidFill>
                  <a:srgbClr val="2A2A2A">
                    <a:alpha val="100000"/>
                  </a:srgbClr>
                </a:solidFill>
                <a:latin typeface="Freesentation 3 Light" pitchFamily="34" charset="0"/>
                <a:ea typeface="Freesentation 3 Light" pitchFamily="34" charset="-122"/>
                <a:cs typeface="Freesentation 3 Light" pitchFamily="34" charset="-120"/>
              </a:rPr>
              <a:t>대한민국 리테일 금융 중심지인 강남 핵심 센터 총괄</a:t>
            </a:r>
            <a:endParaRPr lang="en-US" sz="2600" dirty="0"/>
          </a:p>
        </p:txBody>
      </p:sp>
      <p:sp>
        <p:nvSpPr>
          <p:cNvPr id="20" name="Shape 14"/>
          <p:cNvSpPr/>
          <p:nvPr/>
        </p:nvSpPr>
        <p:spPr>
          <a:xfrm>
            <a:off x="1473384" y="7594600"/>
            <a:ext cx="10783648" cy="1841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5"/>
          <p:cNvSpPr/>
          <p:nvPr/>
        </p:nvSpPr>
        <p:spPr>
          <a:xfrm>
            <a:off x="1473384" y="7594600"/>
            <a:ext cx="7671759" cy="50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6"/>
          <p:cNvSpPr/>
          <p:nvPr/>
        </p:nvSpPr>
        <p:spPr>
          <a:xfrm>
            <a:off x="1473384" y="7594600"/>
            <a:ext cx="2019552" cy="508000"/>
          </a:xfrm>
          <a:prstGeom prst="rect">
            <a:avLst/>
          </a:prstGeom>
          <a:solidFill>
            <a:srgbClr val="FF3700">
              <a:alpha val="10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7"/>
          <p:cNvSpPr/>
          <p:nvPr/>
        </p:nvSpPr>
        <p:spPr>
          <a:xfrm>
            <a:off x="1625803" y="7670800"/>
            <a:ext cx="18163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SeoulAlrim ExtraBold" pitchFamily="34" charset="0"/>
                <a:ea typeface="SeoulAlrim ExtraBold" pitchFamily="34" charset="-122"/>
                <a:cs typeface="SeoulAlrim ExtraBold" pitchFamily="34" charset="-120"/>
              </a:rPr>
              <a:t>2020 ~ 2022</a:t>
            </a:r>
            <a:endParaRPr lang="en-US" sz="2400" dirty="0"/>
          </a:p>
        </p:txBody>
      </p:sp>
      <p:sp>
        <p:nvSpPr>
          <p:cNvPr id="24" name="Text 18"/>
          <p:cNvSpPr/>
          <p:nvPr/>
        </p:nvSpPr>
        <p:spPr>
          <a:xfrm>
            <a:off x="3645356" y="7613650"/>
            <a:ext cx="5635271" cy="60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kern="0" spc="-128" dirty="0">
                <a:solidFill>
                  <a:srgbClr val="000000">
                    <a:alpha val="100000"/>
                  </a:srgbClr>
                </a:solidFill>
                <a:latin typeface="SeoulAlrim Bold" pitchFamily="34" charset="0"/>
                <a:ea typeface="SeoulAlrim Bold" pitchFamily="34" charset="-122"/>
                <a:cs typeface="SeoulAlrim Bold" pitchFamily="34" charset="-120"/>
              </a:rPr>
              <a:t>리테일본부장 취임 및 경영진 합류</a:t>
            </a:r>
            <a:endParaRPr lang="en-US" sz="3200" dirty="0"/>
          </a:p>
        </p:txBody>
      </p:sp>
      <p:sp>
        <p:nvSpPr>
          <p:cNvPr id="25" name="Text 19"/>
          <p:cNvSpPr/>
          <p:nvPr/>
        </p:nvSpPr>
        <p:spPr>
          <a:xfrm>
            <a:off x="1473384" y="8255000"/>
            <a:ext cx="10893728" cy="1291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lnSpc>
                <a:spcPts val="3120"/>
              </a:lnSpc>
              <a:buSzPct val="100000"/>
              <a:buChar char="•"/>
            </a:pPr>
            <a:r>
              <a:rPr lang="en-US" sz="2600" dirty="0">
                <a:solidFill>
                  <a:srgbClr val="2A2A2A">
                    <a:alpha val="100000"/>
                  </a:srgbClr>
                </a:solidFill>
                <a:latin typeface="Freesentation 3 Light" pitchFamily="34" charset="0"/>
                <a:ea typeface="Freesentation 3 Light" pitchFamily="34" charset="-122"/>
                <a:cs typeface="Freesentation 3 Light" pitchFamily="34" charset="-120"/>
              </a:rPr>
              <a:t>한화투자증권 리테일본부장 승진</a:t>
            </a:r>
            <a:endParaRPr lang="en-US" sz="2600" dirty="0"/>
          </a:p>
          <a:p>
            <a:pPr marL="685800" lvl="1" indent="-342900" algn="l">
              <a:lnSpc>
                <a:spcPts val="3120"/>
              </a:lnSpc>
              <a:buSzPct val="100000"/>
              <a:buChar char="•"/>
            </a:pPr>
            <a:r>
              <a:rPr lang="en-US" sz="2600" dirty="0">
                <a:solidFill>
                  <a:srgbClr val="2A2A2A">
                    <a:alpha val="100000"/>
                  </a:srgbClr>
                </a:solidFill>
                <a:latin typeface="Freesentation 3 Light" pitchFamily="34" charset="0"/>
                <a:ea typeface="Freesentation 3 Light" pitchFamily="34" charset="-122"/>
                <a:cs typeface="Freesentation 3 Light" pitchFamily="34" charset="-120"/>
              </a:rPr>
              <a:t>오랜 지점장 및 센터장 경험을 바탕으로,  </a:t>
            </a:r>
            <a:br>
              <a:rPr lang="en-US" sz="2600" dirty="0">
                <a:solidFill>
                  <a:srgbClr val="2A2A2A">
                    <a:alpha val="100000"/>
                  </a:srgbClr>
                </a:solidFill>
                <a:latin typeface="Freesentation 3 Light" pitchFamily="34" charset="0"/>
                <a:ea typeface="Freesentation 3 Light" pitchFamily="34" charset="-122"/>
                <a:cs typeface="Freesentation 3 Light" pitchFamily="34" charset="-120"/>
              </a:rPr>
            </a:br>
            <a:r>
              <a:rPr lang="en-US" sz="2600" dirty="0" err="1">
                <a:solidFill>
                  <a:srgbClr val="2A2A2A">
                    <a:alpha val="100000"/>
                  </a:srgbClr>
                </a:solidFill>
                <a:latin typeface="Freesentation 3 Light" pitchFamily="34" charset="0"/>
                <a:ea typeface="Freesentation 3 Light" pitchFamily="34" charset="-122"/>
                <a:cs typeface="Freesentation 3 Light" pitchFamily="34" charset="-120"/>
              </a:rPr>
              <a:t>한화투자증권의</a:t>
            </a:r>
            <a:r>
              <a:rPr lang="en-US" sz="2600" dirty="0">
                <a:solidFill>
                  <a:srgbClr val="2A2A2A">
                    <a:alpha val="100000"/>
                  </a:srgbClr>
                </a:solidFill>
                <a:latin typeface="Freesentation 3 Light" pitchFamily="34" charset="0"/>
                <a:ea typeface="Freesentation 3 Light" pitchFamily="34" charset="-122"/>
                <a:cs typeface="Freesentation 3 Light" pitchFamily="34" charset="-120"/>
              </a:rPr>
              <a:t> 전사 리테일 영업 및 채널 전략을 진두지휘</a:t>
            </a:r>
            <a:endParaRPr lang="en-US" sz="2600" dirty="0"/>
          </a:p>
        </p:txBody>
      </p:sp>
      <p:sp>
        <p:nvSpPr>
          <p:cNvPr id="26" name="Shape 20"/>
          <p:cNvSpPr/>
          <p:nvPr/>
        </p:nvSpPr>
        <p:spPr>
          <a:xfrm>
            <a:off x="1473384" y="4610100"/>
            <a:ext cx="10783648" cy="26289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1473384" y="4610100"/>
            <a:ext cx="7557445" cy="50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1473384" y="4610100"/>
            <a:ext cx="1905238" cy="508000"/>
          </a:xfrm>
          <a:prstGeom prst="rect">
            <a:avLst/>
          </a:prstGeom>
          <a:solidFill>
            <a:srgbClr val="FF3700">
              <a:alpha val="10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/>
          <p:nvPr/>
        </p:nvSpPr>
        <p:spPr>
          <a:xfrm>
            <a:off x="1625803" y="4686300"/>
            <a:ext cx="17020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SeoulAlrim ExtraBold" pitchFamily="34" charset="0"/>
                <a:ea typeface="SeoulAlrim ExtraBold" pitchFamily="34" charset="-122"/>
                <a:cs typeface="SeoulAlrim ExtraBold" pitchFamily="34" charset="-120"/>
              </a:rPr>
              <a:t>2023 ~ 현재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3531041" y="4629150"/>
            <a:ext cx="5635271" cy="60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kern="0" spc="-128" dirty="0">
                <a:solidFill>
                  <a:srgbClr val="000000">
                    <a:alpha val="100000"/>
                  </a:srgbClr>
                </a:solidFill>
                <a:latin typeface="SeoulAlrim Bold" pitchFamily="34" charset="0"/>
                <a:ea typeface="SeoulAlrim Bold" pitchFamily="34" charset="-122"/>
                <a:cs typeface="SeoulAlrim Bold" pitchFamily="34" charset="-120"/>
              </a:rPr>
              <a:t>리테일본부장 취임 및 경영진 합류</a:t>
            </a:r>
            <a:endParaRPr lang="en-US" sz="3200" dirty="0"/>
          </a:p>
        </p:txBody>
      </p:sp>
      <p:sp>
        <p:nvSpPr>
          <p:cNvPr id="31" name="Text 25"/>
          <p:cNvSpPr/>
          <p:nvPr/>
        </p:nvSpPr>
        <p:spPr>
          <a:xfrm>
            <a:off x="1473383" y="5270500"/>
            <a:ext cx="9335667" cy="2078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lnSpc>
                <a:spcPts val="3120"/>
              </a:lnSpc>
              <a:buSzPct val="100000"/>
              <a:buChar char="•"/>
            </a:pPr>
            <a:r>
              <a:rPr lang="en-US" sz="2600" dirty="0">
                <a:solidFill>
                  <a:srgbClr val="2A2A2A">
                    <a:alpha val="100000"/>
                  </a:srgbClr>
                </a:solidFill>
                <a:latin typeface="Freesentation 3 Light" pitchFamily="34" charset="0"/>
                <a:ea typeface="Freesentation 3 Light" pitchFamily="34" charset="-122"/>
                <a:cs typeface="Freesentation 3 Light" pitchFamily="34" charset="-120"/>
              </a:rPr>
              <a:t>한화투자증권 자산관리(WM)본부장 (상무)</a:t>
            </a:r>
            <a:endParaRPr lang="en-US" sz="2600" dirty="0"/>
          </a:p>
          <a:p>
            <a:pPr marL="685800" lvl="1" indent="-342900" algn="l">
              <a:lnSpc>
                <a:spcPts val="3120"/>
              </a:lnSpc>
              <a:buSzPct val="100000"/>
              <a:buChar char="•"/>
            </a:pPr>
            <a:r>
              <a:rPr lang="en-US" sz="2600" dirty="0">
                <a:solidFill>
                  <a:srgbClr val="2A2A2A">
                    <a:alpha val="100000"/>
                  </a:srgbClr>
                </a:solidFill>
                <a:latin typeface="Freesentation 3 Light" pitchFamily="34" charset="0"/>
                <a:ea typeface="Freesentation 3 Light" pitchFamily="34" charset="-122"/>
                <a:cs typeface="Freesentation 3 Light" pitchFamily="34" charset="-120"/>
              </a:rPr>
              <a:t>차별화된 자산관리 서비스 도입: 중개형 ISA 서비스 확대 및  </a:t>
            </a:r>
            <a:br>
              <a:rPr lang="en-US" sz="2600" dirty="0">
                <a:solidFill>
                  <a:srgbClr val="2A2A2A">
                    <a:alpha val="100000"/>
                  </a:srgbClr>
                </a:solidFill>
                <a:latin typeface="Freesentation 3 Light" pitchFamily="34" charset="0"/>
                <a:ea typeface="Freesentation 3 Light" pitchFamily="34" charset="-122"/>
                <a:cs typeface="Freesentation 3 Light" pitchFamily="34" charset="-120"/>
              </a:rPr>
            </a:br>
            <a:r>
              <a:rPr lang="en-US" sz="2600" dirty="0" err="1">
                <a:solidFill>
                  <a:srgbClr val="2A2A2A">
                    <a:alpha val="100000"/>
                  </a:srgbClr>
                </a:solidFill>
                <a:latin typeface="Freesentation 3 Light" pitchFamily="34" charset="0"/>
                <a:ea typeface="Freesentation 3 Light" pitchFamily="34" charset="-122"/>
                <a:cs typeface="Freesentation 3 Light" pitchFamily="34" charset="-120"/>
              </a:rPr>
              <a:t>해외주식</a:t>
            </a:r>
            <a:r>
              <a:rPr lang="en-US" sz="2600" dirty="0">
                <a:solidFill>
                  <a:srgbClr val="2A2A2A">
                    <a:alpha val="100000"/>
                  </a:srgbClr>
                </a:solidFill>
                <a:latin typeface="Freesentation 3 Light" pitchFamily="34" charset="0"/>
                <a:ea typeface="Freesentation 3 Light" pitchFamily="34" charset="-122"/>
                <a:cs typeface="Freesentation 3 Light" pitchFamily="34" charset="-120"/>
              </a:rPr>
              <a:t> 투자자를 위한 무료 세무신고 대행 등 고객 맞춤형 솔루션 총괄</a:t>
            </a:r>
            <a:endParaRPr lang="en-US" sz="2600" dirty="0"/>
          </a:p>
          <a:p>
            <a:pPr marL="685800" lvl="1" indent="-342900" algn="l">
              <a:lnSpc>
                <a:spcPts val="3120"/>
              </a:lnSpc>
              <a:buSzPct val="100000"/>
              <a:buChar char="•"/>
            </a:pPr>
            <a:r>
              <a:rPr lang="en-US" sz="2600" dirty="0">
                <a:solidFill>
                  <a:srgbClr val="2A2A2A">
                    <a:alpha val="100000"/>
                  </a:srgbClr>
                </a:solidFill>
                <a:latin typeface="Freesentation 3 Light" pitchFamily="34" charset="0"/>
                <a:ea typeface="Freesentation 3 Light" pitchFamily="34" charset="-122"/>
                <a:cs typeface="Freesentation 3 Light" pitchFamily="34" charset="-120"/>
              </a:rPr>
              <a:t>2024년 한화투자증권이 ‘대한민국 펀드어워즈’에서 투자자보호 </a:t>
            </a:r>
            <a:r>
              <a:rPr lang="en-US" sz="2600" dirty="0" err="1">
                <a:solidFill>
                  <a:srgbClr val="2A2A2A">
                    <a:alpha val="100000"/>
                  </a:srgbClr>
                </a:solidFill>
                <a:latin typeface="Freesentation 3 Light" pitchFamily="34" charset="0"/>
                <a:ea typeface="Freesentation 3 Light" pitchFamily="34" charset="-122"/>
                <a:cs typeface="Freesentation 3 Light" pitchFamily="34" charset="-120"/>
              </a:rPr>
              <a:t>최우수상을</a:t>
            </a:r>
            <a:r>
              <a:rPr lang="en-US" sz="2600" dirty="0">
                <a:solidFill>
                  <a:srgbClr val="2A2A2A">
                    <a:alpha val="100000"/>
                  </a:srgbClr>
                </a:solidFill>
                <a:latin typeface="Freesentation 3 Light" pitchFamily="34" charset="0"/>
                <a:ea typeface="Freesentation 3 Light" pitchFamily="34" charset="-122"/>
                <a:cs typeface="Freesentation 3 Light" pitchFamily="34" charset="-120"/>
              </a:rPr>
              <a:t> </a:t>
            </a:r>
            <a:br>
              <a:rPr lang="en-US" sz="2600" dirty="0">
                <a:solidFill>
                  <a:srgbClr val="2A2A2A">
                    <a:alpha val="100000"/>
                  </a:srgbClr>
                </a:solidFill>
                <a:latin typeface="Freesentation 3 Light" pitchFamily="34" charset="0"/>
                <a:ea typeface="Freesentation 3 Light" pitchFamily="34" charset="-122"/>
                <a:cs typeface="Freesentation 3 Light" pitchFamily="34" charset="-120"/>
              </a:rPr>
            </a:br>
            <a:r>
              <a:rPr lang="en-US" sz="2600" dirty="0" err="1">
                <a:solidFill>
                  <a:srgbClr val="2A2A2A">
                    <a:alpha val="100000"/>
                  </a:srgbClr>
                </a:solidFill>
                <a:latin typeface="Freesentation 3 Light" pitchFamily="34" charset="0"/>
                <a:ea typeface="Freesentation 3 Light" pitchFamily="34" charset="-122"/>
                <a:cs typeface="Freesentation 3 Light" pitchFamily="34" charset="-120"/>
              </a:rPr>
              <a:t>수상할</a:t>
            </a:r>
            <a:r>
              <a:rPr lang="en-US" sz="2600" dirty="0">
                <a:solidFill>
                  <a:srgbClr val="2A2A2A">
                    <a:alpha val="100000"/>
                  </a:srgbClr>
                </a:solidFill>
                <a:latin typeface="Freesentation 3 Light" pitchFamily="34" charset="0"/>
                <a:ea typeface="Freesentation 3 Light" pitchFamily="34" charset="-122"/>
                <a:cs typeface="Freesentation 3 Light" pitchFamily="34" charset="-120"/>
              </a:rPr>
              <a:t> 당시, WM본부 수장으로서 시상식에 참석하여 성과를 빛냄</a:t>
            </a:r>
            <a:endParaRPr lang="en-US" sz="2600" dirty="0"/>
          </a:p>
        </p:txBody>
      </p:sp>
      <p:sp>
        <p:nvSpPr>
          <p:cNvPr id="32" name="Shape 26"/>
          <p:cNvSpPr/>
          <p:nvPr/>
        </p:nvSpPr>
        <p:spPr>
          <a:xfrm>
            <a:off x="20601975" y="3670300"/>
            <a:ext cx="2883260" cy="1778000"/>
          </a:xfrm>
          <a:prstGeom prst="rect">
            <a:avLst/>
          </a:prstGeom>
          <a:solidFill>
            <a:srgbClr val="FF3700">
              <a:alpha val="10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7"/>
          <p:cNvSpPr/>
          <p:nvPr/>
        </p:nvSpPr>
        <p:spPr>
          <a:xfrm>
            <a:off x="20788265" y="3975100"/>
            <a:ext cx="2087294" cy="1337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4000" dirty="0">
                <a:solidFill>
                  <a:srgbClr val="FFFFFF">
                    <a:alpha val="100000"/>
                  </a:srgbClr>
                </a:solidFill>
                <a:latin typeface="SeoulAlrim ExtraBold" pitchFamily="34" charset="0"/>
                <a:ea typeface="SeoulAlrim ExtraBold" pitchFamily="34" charset="-122"/>
                <a:cs typeface="SeoulAlrim ExtraBold" pitchFamily="34" charset="-120"/>
              </a:rPr>
              <a:t>증권업의</a:t>
            </a:r>
            <a:endParaRPr lang="en-US" sz="4000" dirty="0"/>
          </a:p>
          <a:p>
            <a:pPr marL="0" indent="0" algn="r">
              <a:buNone/>
            </a:pPr>
            <a:r>
              <a:rPr lang="en-US" sz="4000" dirty="0">
                <a:solidFill>
                  <a:srgbClr val="FFFFFF">
                    <a:alpha val="100000"/>
                  </a:srgbClr>
                </a:solidFill>
                <a:latin typeface="SeoulAlrim ExtraBold" pitchFamily="34" charset="0"/>
                <a:ea typeface="SeoulAlrim ExtraBold" pitchFamily="34" charset="-122"/>
                <a:cs typeface="SeoulAlrim ExtraBold" pitchFamily="34" charset="-120"/>
              </a:rPr>
              <a:t>이해</a:t>
            </a:r>
            <a:endParaRPr lang="en-US" sz="4000" dirty="0"/>
          </a:p>
        </p:txBody>
      </p:sp>
      <p:pic>
        <p:nvPicPr>
          <p:cNvPr id="34" name="Image 4" descr=" 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148143" y="406400"/>
            <a:ext cx="2337092" cy="800100"/>
          </a:xfrm>
          <a:prstGeom prst="rect">
            <a:avLst/>
          </a:prstGeom>
        </p:spPr>
      </p:pic>
      <p:pic>
        <p:nvPicPr>
          <p:cNvPr id="35" name="Image 5" descr=" 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380197" y="5302250"/>
            <a:ext cx="1104071" cy="1231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Microsoft Office PowerPoint</Application>
  <PresentationFormat>사용자 지정</PresentationFormat>
  <Paragraphs>22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Freesentation 3 Light</vt:lpstr>
      <vt:lpstr>SeoulAlrim ExtraBold</vt:lpstr>
      <vt:lpstr>SeoulAlrim Bold</vt:lpstr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강지현</cp:lastModifiedBy>
  <cp:revision>2</cp:revision>
  <dcterms:created xsi:type="dcterms:W3CDTF">2026-07-11T09:27:25Z</dcterms:created>
  <dcterms:modified xsi:type="dcterms:W3CDTF">2026-07-12T10:23:40Z</dcterms:modified>
</cp:coreProperties>
</file>